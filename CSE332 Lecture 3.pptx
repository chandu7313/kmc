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316" r:id="rId2"/>
    <p:sldId id="330" r:id="rId3"/>
    <p:sldId id="317" r:id="rId4"/>
    <p:sldId id="318" r:id="rId5"/>
    <p:sldId id="319" r:id="rId6"/>
    <p:sldId id="320" r:id="rId7"/>
    <p:sldId id="321" r:id="rId8"/>
    <p:sldId id="322" r:id="rId9"/>
    <p:sldId id="323" r:id="rId10"/>
    <p:sldId id="325" r:id="rId11"/>
    <p:sldId id="324" r:id="rId12"/>
    <p:sldId id="326" r:id="rId13"/>
    <p:sldId id="327" r:id="rId14"/>
    <p:sldId id="328" r:id="rId15"/>
    <p:sldId id="329" r:id="rId1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/>
      <a:tcStyle>
        <a:tcBdr/>
        <a:fill>
          <a:solidFill>
            <a:srgbClr val="E9EFF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558" autoAdjust="0"/>
    <p:restoredTop sz="94660"/>
  </p:normalViewPr>
  <p:slideViewPr>
    <p:cSldViewPr>
      <p:cViewPr varScale="1">
        <p:scale>
          <a:sx n="82" d="100"/>
          <a:sy n="82" d="100"/>
        </p:scale>
        <p:origin x="-696" y="-9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3" name="Shape 10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6778625"/>
            <a:ext cx="12192000" cy="79376"/>
          </a:xfrm>
          <a:prstGeom prst="rect">
            <a:avLst/>
          </a:prstGeom>
          <a:solidFill>
            <a:srgbClr val="ED771F"/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685800">
              <a:defRPr sz="13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3" name="Rectangle 2"/>
          <p:cNvSpPr/>
          <p:nvPr/>
        </p:nvSpPr>
        <p:spPr>
          <a:xfrm>
            <a:off x="2078568" y="431800"/>
            <a:ext cx="8106834" cy="46038"/>
          </a:xfrm>
          <a:prstGeom prst="rect">
            <a:avLst/>
          </a:prstGeom>
          <a:solidFill>
            <a:srgbClr val="F47D3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4" name="Picture 4" descr="Picture 4"/>
          <p:cNvPicPr>
            <a:picLocks noChangeAspect="1"/>
          </p:cNvPicPr>
          <p:nvPr/>
        </p:nvPicPr>
        <p:blipFill>
          <a:blip r:embed="rId2" cstate="print">
            <a:extLst/>
          </a:blip>
          <a:stretch>
            <a:fillRect/>
          </a:stretch>
        </p:blipFill>
        <p:spPr>
          <a:xfrm>
            <a:off x="10354733" y="177800"/>
            <a:ext cx="1547285" cy="419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5" descr="Picture 5"/>
          <p:cNvPicPr>
            <a:picLocks noChangeAspect="1"/>
          </p:cNvPicPr>
          <p:nvPr/>
        </p:nvPicPr>
        <p:blipFill>
          <a:blip r:embed="rId3" cstate="print">
            <a:extLst/>
          </a:blip>
          <a:stretch>
            <a:fillRect/>
          </a:stretch>
        </p:blipFill>
        <p:spPr>
          <a:xfrm>
            <a:off x="328083" y="177801"/>
            <a:ext cx="1581151" cy="506413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6" r:id="rId5"/>
    <p:sldLayoutId id="2147483657" r:id="rId6"/>
    <p:sldLayoutId id="2147483658" r:id="rId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809588" y="1571612"/>
            <a:ext cx="10644262" cy="4038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Calibri Light"/>
              <a:cs typeface="Times New Roman" pitchFamily="18" charset="0"/>
              <a:sym typeface="Calibri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4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Calibri Light"/>
              <a:cs typeface="Times New Roman" pitchFamily="18" charset="0"/>
              <a:sym typeface="Calibri Light"/>
            </a:endParaRPr>
          </a:p>
          <a:p>
            <a:pPr lvl="0" algn="ctr" hangingPunct="1">
              <a:lnSpc>
                <a:spcPct val="90000"/>
              </a:lnSpc>
              <a:buFontTx/>
              <a:buChar char="-"/>
              <a:defRPr/>
            </a:pPr>
            <a:r>
              <a:rPr lang="en-US" sz="4400" b="1" dirty="0" smtClean="0">
                <a:solidFill>
                  <a:srgbClr val="FF0000"/>
                </a:solidFill>
                <a:latin typeface="Times New Roman" pitchFamily="18" charset="0"/>
                <a:ea typeface="Calibri Light"/>
                <a:cs typeface="Times New Roman" pitchFamily="18" charset="0"/>
                <a:sym typeface="Calibri Light"/>
              </a:rPr>
              <a:t>Patents</a:t>
            </a:r>
          </a:p>
          <a:p>
            <a:pPr lvl="0" algn="ctr" hangingPunct="1">
              <a:lnSpc>
                <a:spcPct val="90000"/>
              </a:lnSpc>
              <a:buFontTx/>
              <a:buChar char="-"/>
              <a:defRPr/>
            </a:pPr>
            <a:r>
              <a:rPr lang="en-US" sz="4400" b="1" dirty="0" smtClean="0">
                <a:solidFill>
                  <a:srgbClr val="FF0000"/>
                </a:solidFill>
                <a:latin typeface="Times New Roman" pitchFamily="18" charset="0"/>
                <a:ea typeface="Calibri Light"/>
                <a:cs typeface="Times New Roman" pitchFamily="18" charset="0"/>
                <a:sym typeface="Calibri Light"/>
              </a:rPr>
              <a:t>Importance of Patent Information in Business Development</a:t>
            </a:r>
            <a:r>
              <a:rPr kumimoji="0" 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Calibri Light"/>
                <a:cs typeface="Times New Roman" pitchFamily="18" charset="0"/>
                <a:sym typeface="Calibri Light"/>
              </a:rPr>
              <a:t/>
            </a:r>
            <a:br>
              <a:rPr kumimoji="0" lang="en-US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Calibri Light"/>
                <a:cs typeface="Times New Roman" pitchFamily="18" charset="0"/>
                <a:sym typeface="Calibri Light"/>
              </a:rPr>
            </a:br>
            <a:endParaRPr kumimoji="0" lang="en-GB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Calibri Light"/>
              <a:cs typeface="Times New Roman" pitchFamily="18" charset="0"/>
              <a:sym typeface="Calibri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95340" y="2274838"/>
            <a:ext cx="99298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 hangingPunct="1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Patent</a:t>
            </a:r>
            <a:r>
              <a:rPr lang="en-US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: A statutory grant by the government for new inventions.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Monopoly Rights</a:t>
            </a:r>
            <a:r>
              <a:rPr lang="en-US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: Grants exclusive rights to the inventor for a defined period.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Disclosure Requirement</a:t>
            </a:r>
            <a:r>
              <a:rPr lang="en-US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: The inventor must fully disclose the invention.</a:t>
            </a:r>
          </a:p>
          <a:p>
            <a:pPr lvl="0" eaLnBrk="0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b="1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Legal Protection</a:t>
            </a:r>
            <a:r>
              <a:rPr lang="en-US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: Prevents others from using, making, or selling the invention without permission. 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38348" y="642918"/>
            <a:ext cx="83582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600" dirty="0" smtClean="0">
                <a:solidFill>
                  <a:schemeClr val="accent6"/>
                </a:solidFill>
                <a:cs typeface="Arial" charset="0"/>
              </a:rPr>
              <a:t>Creating an Ethical Work Environment </a:t>
            </a:r>
            <a:endParaRPr lang="en-US" sz="3600" dirty="0">
              <a:solidFill>
                <a:schemeClr val="accent6"/>
              </a:solidFill>
              <a:cs typeface="Arial" charset="0"/>
            </a:endParaRPr>
          </a:p>
        </p:txBody>
      </p:sp>
      <p:pic>
        <p:nvPicPr>
          <p:cNvPr id="3" name="Picture 2" descr="C:\Users\pc\Desktop\Lpu CSE332\professional-and-ethical-issues-and-responsibilities-29-63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19200"/>
            <a:ext cx="1219200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6712" y="1357298"/>
            <a:ext cx="1078713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4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Employees must have a knowledgeable resource with whom they can discuss perceived unethical practices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3400"/>
            <a:ext cx="105965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000" dirty="0" smtClean="0">
                <a:solidFill>
                  <a:schemeClr val="accent6"/>
                </a:solidFill>
              </a:rPr>
              <a:t>                Creating </a:t>
            </a:r>
            <a:r>
              <a:rPr lang="en-US" sz="4000" dirty="0">
                <a:solidFill>
                  <a:schemeClr val="accent6"/>
                </a:solidFill>
              </a:rPr>
              <a:t>an Ethical Work Environment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09800"/>
            <a:ext cx="121920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5"/>
          <p:cNvSpPr txBox="1">
            <a:spLocks noChangeArrowheads="1"/>
          </p:cNvSpPr>
          <p:nvPr/>
        </p:nvSpPr>
        <p:spPr bwMode="auto">
          <a:xfrm>
            <a:off x="0" y="1428736"/>
            <a:ext cx="1169193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Manager’s checklist for establishing an ethical work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3836" y="533400"/>
            <a:ext cx="10287072" cy="7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000" dirty="0">
                <a:solidFill>
                  <a:schemeClr val="accent6"/>
                </a:solidFill>
              </a:rPr>
              <a:t>Creating an Ethical Work Environment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pc\Desktop\Lpu CSE332\images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2500306"/>
            <a:ext cx="11811040" cy="4357694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457200" y="228600"/>
            <a:ext cx="10639460" cy="1189038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4400" b="1" i="0" u="none" strike="noStrike" kern="0" cap="none" spc="0" normalizeH="0" baseline="0" noProof="0" dirty="0" smtClean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DECISION</a:t>
            </a:r>
            <a:r>
              <a:rPr kumimoji="0" lang="en-IN" sz="44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 </a:t>
            </a:r>
            <a:endParaRPr kumimoji="0" lang="en-IN" sz="4400" b="1" i="0" u="none" strike="noStrike" kern="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pc\Desktop\Lpu CSE332\hand-writing-decision-making-process-whiteboard-male-business-ooda-loop-observe-orient-decide-act-black-felt-tip-marker-40150915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00240"/>
            <a:ext cx="11953916" cy="471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457200" y="928670"/>
            <a:ext cx="11068088" cy="71438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DECISION MAKING</a:t>
            </a:r>
            <a:endParaRPr kumimoji="0" lang="en-IN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09522" y="2071678"/>
            <a:ext cx="11358642" cy="4643470"/>
          </a:xfrm>
          <a:prstGeom prst="rect">
            <a:avLst/>
          </a:prstGeom>
          <a:noFill/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595274" y="642918"/>
            <a:ext cx="11072890" cy="118903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INCLUDING ETHICAL CONSIDERATIONS IN DECISION MAKING</a:t>
            </a:r>
            <a:endParaRPr kumimoji="0" lang="en-IN" sz="3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628650" y="1468438"/>
            <a:ext cx="10968076" cy="5189537"/>
          </a:xfrm>
          <a:prstGeom prst="rect">
            <a:avLst/>
          </a:prstGeom>
        </p:spPr>
        <p:txBody>
          <a:bodyPr>
            <a:no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tabLst/>
              <a:defRPr/>
            </a:pPr>
            <a:r>
              <a:rPr kumimoji="0" lang="en-I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A problem statement is a clear, concise description of the issue that needs to be addressed.</a:t>
            </a:r>
          </a:p>
          <a:p>
            <a:pPr marL="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charset="0"/>
              <a:buNone/>
              <a:tabLst/>
              <a:defRPr/>
            </a:pPr>
            <a:r>
              <a:rPr kumimoji="0" lang="en-IN" sz="3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It Answers-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What do people observe that causes them to think there is a problem?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32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Who is directly affected by the problem?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 </a:t>
            </a:r>
            <a:r>
              <a:rPr kumimoji="0" lang="en-I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Is anyone else affected?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How often does the problem occur?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 </a:t>
            </a:r>
            <a:r>
              <a:rPr kumimoji="0" lang="en-I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What is the impact of the problem?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How serious is the problem?</a:t>
            </a:r>
            <a:endParaRPr kumimoji="0" lang="en-IN" sz="32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523968" y="785794"/>
            <a:ext cx="9644130" cy="582594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DEVELOP  A  PROBLEM  STATEMENT</a:t>
            </a:r>
            <a:endParaRPr kumimoji="0" lang="en-IN" sz="36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2428868"/>
            <a:ext cx="5167306" cy="4214842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95208" y="1357298"/>
            <a:ext cx="4643470" cy="642942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Calibri Light"/>
                <a:cs typeface="Calibri Light"/>
                <a:sym typeface="Calibri Light"/>
              </a:rPr>
              <a:t>Poor problem statement 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381752" y="1357298"/>
            <a:ext cx="5072098" cy="64294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dirty="0" smtClean="0">
                <a:solidFill>
                  <a:srgbClr val="FF0000"/>
                </a:solidFill>
                <a:latin typeface="Calibri Light"/>
                <a:ea typeface="Calibri Light"/>
                <a:cs typeface="Calibri Light"/>
                <a:sym typeface="Calibri Light"/>
              </a:rPr>
              <a:t>Good</a:t>
            </a:r>
            <a:r>
              <a:rPr kumimoji="0" lang="en-GB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Calibri Light"/>
                <a:cs typeface="Calibri Light"/>
                <a:sym typeface="Calibri Light"/>
              </a:rPr>
              <a:t> problem statement </a:t>
            </a:r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453190" y="2500306"/>
            <a:ext cx="5524490" cy="4143404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457200" y="2357430"/>
            <a:ext cx="11210964" cy="4214842"/>
          </a:xfrm>
          <a:prstGeom prst="rect">
            <a:avLst/>
          </a:prstGeom>
        </p:spPr>
        <p:txBody>
          <a:bodyPr>
            <a:normAutofit fontScale="98125"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It is ideal to enlist the help of others, including stakeholders, to identify several alternative solutions to the problem.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Brainstorming with others will increase your chances of identifying a broad range of alternatives and determining the best solution.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Try not to be critical of ideas, as any negative criticism will tend to shut down the discussion, and the flow of ideas will dry up. 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IN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Simply write down the ideas as they are suggested.</a:t>
            </a:r>
            <a:endParaRPr kumimoji="0" lang="en-IN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1881158" y="928670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IDENTIFY ALTERNATIVES</a:t>
            </a:r>
            <a:endParaRPr kumimoji="0" lang="en-IN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57200" y="2143116"/>
            <a:ext cx="11425278" cy="4500594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095340" y="714356"/>
            <a:ext cx="10358510" cy="11430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 Light"/>
                <a:ea typeface="Calibri Light"/>
                <a:cs typeface="Calibri Light"/>
                <a:sym typeface="Calibri Light"/>
              </a:rPr>
              <a:t>EVALUATE AND CHOOSE AN ALTERNATIVE</a:t>
            </a:r>
            <a:endParaRPr kumimoji="0" lang="en-IN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4"/>
          <p:cNvSpPr txBox="1">
            <a:spLocks/>
          </p:cNvSpPr>
          <p:nvPr/>
        </p:nvSpPr>
        <p:spPr>
          <a:xfrm>
            <a:off x="952464" y="642918"/>
            <a:ext cx="9929882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IMPLEMENT THE DECISION</a:t>
            </a:r>
            <a:endParaRPr kumimoji="0" lang="en-IN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</p:txBody>
      </p:sp>
      <p:sp>
        <p:nvSpPr>
          <p:cNvPr id="3" name="Content Placeholder 5"/>
          <p:cNvSpPr txBox="1">
            <a:spLocks/>
          </p:cNvSpPr>
          <p:nvPr/>
        </p:nvSpPr>
        <p:spPr>
          <a:xfrm>
            <a:off x="457200" y="1600200"/>
            <a:ext cx="10925212" cy="4525963"/>
          </a:xfrm>
          <a:prstGeom prst="rect">
            <a:avLst/>
          </a:prstGeom>
        </p:spPr>
        <p:txBody>
          <a:bodyPr>
            <a:normAutofit fontScale="96250"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tabLst/>
              <a:defRPr/>
            </a:pPr>
            <a:r>
              <a:rPr kumimoji="0" lang="en-IN" sz="4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Once an alternative is selected, it should be implemented in an </a:t>
            </a:r>
            <a:r>
              <a:rPr kumimoji="0" lang="en-IN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efficient, effective, and timely manner.</a:t>
            </a:r>
          </a:p>
          <a:p>
            <a:pPr marL="514350" marR="0" lvl="0" indent="-51435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IN" sz="4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Why are we doing this?</a:t>
            </a:r>
          </a:p>
          <a:p>
            <a:pPr marL="514350" marR="0" lvl="0" indent="-51435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IN" sz="4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What is wrong with the current way we do things?</a:t>
            </a:r>
          </a:p>
          <a:p>
            <a:pPr marL="514350" marR="0" lvl="0" indent="-51435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+mj-lt"/>
              <a:buAutoNum type="arabicPeriod"/>
              <a:tabLst/>
              <a:defRPr/>
            </a:pPr>
            <a:r>
              <a:rPr kumimoji="0" lang="en-IN" sz="4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/>
              </a:rPr>
              <a:t> What are the benefits of the new way for you?</a:t>
            </a:r>
            <a:endParaRPr kumimoji="0" lang="en-IN" sz="4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523968" y="100010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Calibri Light"/>
                <a:cs typeface="Times New Roman" panose="02020603050405020304" pitchFamily="18" charset="0"/>
                <a:sym typeface="Calibri Light"/>
              </a:rPr>
              <a:t>EVALUATE THE RESULTS</a:t>
            </a:r>
            <a:endParaRPr kumimoji="0" lang="en-IN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Calibri Light"/>
              <a:cs typeface="Times New Roman" panose="02020603050405020304" pitchFamily="18" charset="0"/>
              <a:sym typeface="Calibri Ligh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38084" y="3105835"/>
            <a:ext cx="1178727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 eaLnBrk="1" hangingPunct="1"/>
            <a:r>
              <a:rPr lang="en-IN" sz="4000" b="1" dirty="0" smtClean="0">
                <a:latin typeface="Times New Roman" pitchFamily="18" charset="0"/>
                <a:cs typeface="Times New Roman" pitchFamily="18" charset="0"/>
              </a:rPr>
              <a:t>Were the success criteria fully met?</a:t>
            </a:r>
          </a:p>
          <a:p>
            <a:pPr lvl="1" algn="just" eaLnBrk="1" hangingPunct="1"/>
            <a:r>
              <a:rPr lang="en-IN" sz="4000" b="1" dirty="0" smtClean="0">
                <a:latin typeface="Times New Roman" pitchFamily="18" charset="0"/>
                <a:cs typeface="Times New Roman" pitchFamily="18" charset="0"/>
              </a:rPr>
              <a:t> Were there any unintended consequences?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2071679"/>
            <a:ext cx="733428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 eaLnBrk="1" hangingPunct="1"/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Next Topics:</a:t>
            </a:r>
          </a:p>
          <a:p>
            <a:pPr lvl="1" algn="just" eaLnBrk="1" hangingPunct="1"/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Ethics in Information Technology</a:t>
            </a:r>
          </a:p>
          <a:p>
            <a:pPr lvl="1" algn="just" eaLnBrk="1" hangingPunct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Ethical behavior of IT professional</a:t>
            </a:r>
          </a:p>
          <a:p>
            <a:pPr lvl="1" algn="just" eaLnBrk="1" hangingPunct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Common ethical issues for IT users</a:t>
            </a:r>
          </a:p>
          <a:p>
            <a:pPr lvl="1" algn="just" eaLnBrk="1" hangingPunct="1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Supporting the ethical practices of IT users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1" algn="just" eaLnBrk="1" hangingPunct="1"/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371</Words>
  <PresentationFormat>Custom</PresentationFormat>
  <Paragraphs>48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Admin</cp:lastModifiedBy>
  <cp:revision>12</cp:revision>
  <dcterms:modified xsi:type="dcterms:W3CDTF">2025-03-04T07:24:11Z</dcterms:modified>
</cp:coreProperties>
</file>